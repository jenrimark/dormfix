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6" r:id="rId3"/>
    <p:sldId id="257" r:id="rId5"/>
    <p:sldId id="258" r:id="rId6"/>
    <p:sldId id="259" r:id="rId7"/>
    <p:sldId id="260" r:id="rId8"/>
    <p:sldId id="261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7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7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9" Type="http://schemas.openxmlformats.org/officeDocument/2006/relationships/notesSlide" Target="../notesSlides/notesSlide1.xml"/><Relationship Id="rId18" Type="http://schemas.openxmlformats.org/officeDocument/2006/relationships/slideLayout" Target="../slideLayouts/slideLayout1.xml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png"/><Relationship Id="rId8" Type="http://schemas.openxmlformats.org/officeDocument/2006/relationships/image" Target="../media/image24.png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2" Type="http://schemas.openxmlformats.org/officeDocument/2006/relationships/notesSlide" Target="../notesSlides/notesSlide2.xml"/><Relationship Id="rId21" Type="http://schemas.openxmlformats.org/officeDocument/2006/relationships/slideLayout" Target="../slideLayouts/slideLayout1.xml"/><Relationship Id="rId20" Type="http://schemas.openxmlformats.org/officeDocument/2006/relationships/image" Target="../media/image36.png"/><Relationship Id="rId2" Type="http://schemas.openxmlformats.org/officeDocument/2006/relationships/image" Target="../media/image18.png"/><Relationship Id="rId19" Type="http://schemas.openxmlformats.org/officeDocument/2006/relationships/image" Target="../media/image35.png"/><Relationship Id="rId18" Type="http://schemas.openxmlformats.org/officeDocument/2006/relationships/image" Target="../media/image34.png"/><Relationship Id="rId17" Type="http://schemas.openxmlformats.org/officeDocument/2006/relationships/image" Target="../media/image33.png"/><Relationship Id="rId16" Type="http://schemas.openxmlformats.org/officeDocument/2006/relationships/image" Target="../media/image32.png"/><Relationship Id="rId15" Type="http://schemas.openxmlformats.org/officeDocument/2006/relationships/image" Target="../media/image31.png"/><Relationship Id="rId14" Type="http://schemas.openxmlformats.org/officeDocument/2006/relationships/image" Target="../media/image30.png"/><Relationship Id="rId13" Type="http://schemas.openxmlformats.org/officeDocument/2006/relationships/image" Target="../media/image29.png"/><Relationship Id="rId12" Type="http://schemas.openxmlformats.org/officeDocument/2006/relationships/image" Target="../media/image28.png"/><Relationship Id="rId11" Type="http://schemas.openxmlformats.org/officeDocument/2006/relationships/image" Target="../media/image27.png"/><Relationship Id="rId10" Type="http://schemas.openxmlformats.org/officeDocument/2006/relationships/image" Target="../media/image26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png"/><Relationship Id="rId8" Type="http://schemas.openxmlformats.org/officeDocument/2006/relationships/image" Target="../media/image41.png"/><Relationship Id="rId7" Type="http://schemas.openxmlformats.org/officeDocument/2006/relationships/image" Target="../media/image40.png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8" Type="http://schemas.openxmlformats.org/officeDocument/2006/relationships/notesSlide" Target="../notesSlides/notesSlide3.xml"/><Relationship Id="rId37" Type="http://schemas.openxmlformats.org/officeDocument/2006/relationships/slideLayout" Target="../slideLayouts/slideLayout1.xml"/><Relationship Id="rId36" Type="http://schemas.openxmlformats.org/officeDocument/2006/relationships/image" Target="../media/image69.png"/><Relationship Id="rId35" Type="http://schemas.openxmlformats.org/officeDocument/2006/relationships/image" Target="../media/image68.png"/><Relationship Id="rId34" Type="http://schemas.openxmlformats.org/officeDocument/2006/relationships/image" Target="../media/image67.png"/><Relationship Id="rId33" Type="http://schemas.openxmlformats.org/officeDocument/2006/relationships/image" Target="../media/image66.png"/><Relationship Id="rId32" Type="http://schemas.openxmlformats.org/officeDocument/2006/relationships/image" Target="../media/image65.png"/><Relationship Id="rId31" Type="http://schemas.openxmlformats.org/officeDocument/2006/relationships/image" Target="../media/image64.png"/><Relationship Id="rId30" Type="http://schemas.openxmlformats.org/officeDocument/2006/relationships/image" Target="../media/image63.png"/><Relationship Id="rId3" Type="http://schemas.openxmlformats.org/officeDocument/2006/relationships/image" Target="../media/image19.png"/><Relationship Id="rId29" Type="http://schemas.openxmlformats.org/officeDocument/2006/relationships/image" Target="../media/image62.png"/><Relationship Id="rId28" Type="http://schemas.openxmlformats.org/officeDocument/2006/relationships/image" Target="../media/image61.png"/><Relationship Id="rId27" Type="http://schemas.openxmlformats.org/officeDocument/2006/relationships/image" Target="../media/image60.png"/><Relationship Id="rId26" Type="http://schemas.openxmlformats.org/officeDocument/2006/relationships/image" Target="../media/image59.png"/><Relationship Id="rId25" Type="http://schemas.openxmlformats.org/officeDocument/2006/relationships/image" Target="../media/image58.png"/><Relationship Id="rId24" Type="http://schemas.openxmlformats.org/officeDocument/2006/relationships/image" Target="../media/image57.png"/><Relationship Id="rId23" Type="http://schemas.openxmlformats.org/officeDocument/2006/relationships/image" Target="../media/image56.png"/><Relationship Id="rId22" Type="http://schemas.openxmlformats.org/officeDocument/2006/relationships/image" Target="../media/image55.png"/><Relationship Id="rId21" Type="http://schemas.openxmlformats.org/officeDocument/2006/relationships/image" Target="../media/image54.png"/><Relationship Id="rId20" Type="http://schemas.openxmlformats.org/officeDocument/2006/relationships/image" Target="../media/image53.png"/><Relationship Id="rId2" Type="http://schemas.openxmlformats.org/officeDocument/2006/relationships/image" Target="../media/image18.png"/><Relationship Id="rId19" Type="http://schemas.openxmlformats.org/officeDocument/2006/relationships/image" Target="../media/image52.png"/><Relationship Id="rId18" Type="http://schemas.openxmlformats.org/officeDocument/2006/relationships/image" Target="../media/image51.png"/><Relationship Id="rId17" Type="http://schemas.openxmlformats.org/officeDocument/2006/relationships/image" Target="../media/image50.png"/><Relationship Id="rId16" Type="http://schemas.openxmlformats.org/officeDocument/2006/relationships/image" Target="../media/image49.png"/><Relationship Id="rId15" Type="http://schemas.openxmlformats.org/officeDocument/2006/relationships/image" Target="../media/image48.png"/><Relationship Id="rId14" Type="http://schemas.openxmlformats.org/officeDocument/2006/relationships/image" Target="../media/image47.png"/><Relationship Id="rId13" Type="http://schemas.openxmlformats.org/officeDocument/2006/relationships/image" Target="../media/image46.png"/><Relationship Id="rId12" Type="http://schemas.openxmlformats.org/officeDocument/2006/relationships/image" Target="../media/image45.png"/><Relationship Id="rId11" Type="http://schemas.openxmlformats.org/officeDocument/2006/relationships/image" Target="../media/image44.png"/><Relationship Id="rId10" Type="http://schemas.openxmlformats.org/officeDocument/2006/relationships/image" Target="../media/image43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75.png"/><Relationship Id="rId8" Type="http://schemas.openxmlformats.org/officeDocument/2006/relationships/image" Target="../media/image74.png"/><Relationship Id="rId7" Type="http://schemas.openxmlformats.org/officeDocument/2006/relationships/image" Target="../media/image73.png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Relationship Id="rId30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29" Type="http://schemas.openxmlformats.org/officeDocument/2006/relationships/slideLayout" Target="../slideLayouts/slideLayout1.xml"/><Relationship Id="rId28" Type="http://schemas.openxmlformats.org/officeDocument/2006/relationships/image" Target="../media/image94.png"/><Relationship Id="rId27" Type="http://schemas.openxmlformats.org/officeDocument/2006/relationships/image" Target="../media/image93.png"/><Relationship Id="rId26" Type="http://schemas.openxmlformats.org/officeDocument/2006/relationships/image" Target="../media/image92.png"/><Relationship Id="rId25" Type="http://schemas.openxmlformats.org/officeDocument/2006/relationships/image" Target="../media/image91.png"/><Relationship Id="rId24" Type="http://schemas.openxmlformats.org/officeDocument/2006/relationships/image" Target="../media/image90.png"/><Relationship Id="rId23" Type="http://schemas.openxmlformats.org/officeDocument/2006/relationships/image" Target="../media/image89.png"/><Relationship Id="rId22" Type="http://schemas.openxmlformats.org/officeDocument/2006/relationships/image" Target="../media/image88.png"/><Relationship Id="rId21" Type="http://schemas.openxmlformats.org/officeDocument/2006/relationships/image" Target="../media/image87.png"/><Relationship Id="rId20" Type="http://schemas.openxmlformats.org/officeDocument/2006/relationships/image" Target="../media/image86.png"/><Relationship Id="rId2" Type="http://schemas.openxmlformats.org/officeDocument/2006/relationships/image" Target="../media/image18.png"/><Relationship Id="rId19" Type="http://schemas.openxmlformats.org/officeDocument/2006/relationships/image" Target="../media/image85.png"/><Relationship Id="rId18" Type="http://schemas.openxmlformats.org/officeDocument/2006/relationships/image" Target="../media/image84.png"/><Relationship Id="rId17" Type="http://schemas.openxmlformats.org/officeDocument/2006/relationships/image" Target="../media/image83.png"/><Relationship Id="rId16" Type="http://schemas.openxmlformats.org/officeDocument/2006/relationships/image" Target="../media/image82.png"/><Relationship Id="rId15" Type="http://schemas.openxmlformats.org/officeDocument/2006/relationships/image" Target="../media/image81.png"/><Relationship Id="rId14" Type="http://schemas.openxmlformats.org/officeDocument/2006/relationships/image" Target="../media/image80.png"/><Relationship Id="rId13" Type="http://schemas.openxmlformats.org/officeDocument/2006/relationships/image" Target="../media/image79.png"/><Relationship Id="rId12" Type="http://schemas.openxmlformats.org/officeDocument/2006/relationships/image" Target="../media/image78.png"/><Relationship Id="rId11" Type="http://schemas.openxmlformats.org/officeDocument/2006/relationships/image" Target="../media/image77.png"/><Relationship Id="rId10" Type="http://schemas.openxmlformats.org/officeDocument/2006/relationships/image" Target="../media/image76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0.png"/><Relationship Id="rId8" Type="http://schemas.openxmlformats.org/officeDocument/2006/relationships/image" Target="../media/image99.png"/><Relationship Id="rId7" Type="http://schemas.openxmlformats.org/officeDocument/2006/relationships/image" Target="../media/image98.png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Relationship Id="rId3" Type="http://schemas.openxmlformats.org/officeDocument/2006/relationships/image" Target="../media/image19.png"/><Relationship Id="rId27" Type="http://schemas.openxmlformats.org/officeDocument/2006/relationships/notesSlide" Target="../notesSlides/notesSlide5.xml"/><Relationship Id="rId26" Type="http://schemas.openxmlformats.org/officeDocument/2006/relationships/slideLayout" Target="../slideLayouts/slideLayout1.xml"/><Relationship Id="rId25" Type="http://schemas.openxmlformats.org/officeDocument/2006/relationships/image" Target="../media/image115.png"/><Relationship Id="rId24" Type="http://schemas.openxmlformats.org/officeDocument/2006/relationships/image" Target="../media/image114.png"/><Relationship Id="rId23" Type="http://schemas.openxmlformats.org/officeDocument/2006/relationships/image" Target="../media/image113.png"/><Relationship Id="rId22" Type="http://schemas.openxmlformats.org/officeDocument/2006/relationships/image" Target="../media/image112.png"/><Relationship Id="rId21" Type="http://schemas.openxmlformats.org/officeDocument/2006/relationships/image" Target="../media/image111.png"/><Relationship Id="rId20" Type="http://schemas.openxmlformats.org/officeDocument/2006/relationships/image" Target="../media/image110.png"/><Relationship Id="rId2" Type="http://schemas.openxmlformats.org/officeDocument/2006/relationships/image" Target="../media/image18.png"/><Relationship Id="rId19" Type="http://schemas.openxmlformats.org/officeDocument/2006/relationships/image" Target="../media/image109.png"/><Relationship Id="rId18" Type="http://schemas.openxmlformats.org/officeDocument/2006/relationships/image" Target="../media/image108.png"/><Relationship Id="rId17" Type="http://schemas.openxmlformats.org/officeDocument/2006/relationships/image" Target="../media/image107.png"/><Relationship Id="rId16" Type="http://schemas.openxmlformats.org/officeDocument/2006/relationships/image" Target="../media/image106.png"/><Relationship Id="rId15" Type="http://schemas.openxmlformats.org/officeDocument/2006/relationships/image" Target="../media/image105.png"/><Relationship Id="rId14" Type="http://schemas.openxmlformats.org/officeDocument/2006/relationships/image" Target="../media/image104.png"/><Relationship Id="rId13" Type="http://schemas.openxmlformats.org/officeDocument/2006/relationships/image" Target="../media/image103.png"/><Relationship Id="rId12" Type="http://schemas.openxmlformats.org/officeDocument/2006/relationships/image" Target="../media/image102.png"/><Relationship Id="rId11" Type="http://schemas.openxmlformats.org/officeDocument/2006/relationships/image" Target="../media/image101.png"/><Relationship Id="rId10" Type="http://schemas.openxmlformats.org/officeDocument/2006/relationships/image" Target="../media/image27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png"/><Relationship Id="rId7" Type="http://schemas.openxmlformats.org/officeDocument/2006/relationships/image" Target="../media/image119.png"/><Relationship Id="rId6" Type="http://schemas.openxmlformats.org/officeDocument/2006/relationships/image" Target="../media/image118.png"/><Relationship Id="rId5" Type="http://schemas.openxmlformats.org/officeDocument/2006/relationships/image" Target="../media/image19.png"/><Relationship Id="rId4" Type="http://schemas.openxmlformats.org/officeDocument/2006/relationships/image" Target="../media/image117.png"/><Relationship Id="rId3" Type="http://schemas.openxmlformats.org/officeDocument/2006/relationships/image" Target="../media/image116.png"/><Relationship Id="rId2" Type="http://schemas.openxmlformats.org/officeDocument/2006/relationships/image" Target="../media/image18.png"/><Relationship Id="rId17" Type="http://schemas.openxmlformats.org/officeDocument/2006/relationships/notesSlide" Target="../notesSlides/notesSlide6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14.png"/><Relationship Id="rId14" Type="http://schemas.openxmlformats.org/officeDocument/2006/relationships/image" Target="../media/image13.png"/><Relationship Id="rId13" Type="http://schemas.openxmlformats.org/officeDocument/2006/relationships/image" Target="../media/image12.png"/><Relationship Id="rId12" Type="http://schemas.openxmlformats.org/officeDocument/2006/relationships/image" Target="../media/image11.png"/><Relationship Id="rId11" Type="http://schemas.openxmlformats.org/officeDocument/2006/relationships/image" Target="../media/image10.png"/><Relationship Id="rId10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334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914400"/>
            <a:ext cx="2438400" cy="2438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114800"/>
            <a:ext cx="1828800" cy="1828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910" y="2847975"/>
            <a:ext cx="1427559" cy="190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5151" y="2847975"/>
            <a:ext cx="1427559" cy="190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8400" y="4419600"/>
            <a:ext cx="2184350" cy="1333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0951" y="4572000"/>
            <a:ext cx="419100" cy="495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5251" y="4686300"/>
            <a:ext cx="19050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3750" y="4419600"/>
            <a:ext cx="2184350" cy="1333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72014" y="4572000"/>
            <a:ext cx="447675" cy="4953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86314" y="4686300"/>
            <a:ext cx="219075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69101" y="4419600"/>
            <a:ext cx="2184350" cy="1333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27839" y="4572000"/>
            <a:ext cx="466725" cy="4953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42139" y="4686300"/>
            <a:ext cx="238125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2400" y="6515100"/>
            <a:ext cx="13335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163300" y="6515100"/>
            <a:ext cx="1905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6667500"/>
            <a:ext cx="12192000" cy="1905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285785" y="1866900"/>
            <a:ext cx="11500902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E3A8A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基于Django的宿舍报修工单系统的设计与实现</a:t>
            </a:r>
            <a:endParaRPr lang="en-US" sz="3600" dirty="0"/>
          </a:p>
        </p:txBody>
      </p:sp>
      <p:sp>
        <p:nvSpPr>
          <p:cNvPr id="24" name="Text 1"/>
          <p:cNvSpPr/>
          <p:nvPr/>
        </p:nvSpPr>
        <p:spPr>
          <a:xfrm>
            <a:off x="2206069" y="2552700"/>
            <a:ext cx="7660481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0F766E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Design and Implementation of Dormitory Repair Work Order System Based on Django</a:t>
            </a:r>
            <a:endParaRPr lang="en-US" sz="1800" dirty="0"/>
          </a:p>
        </p:txBody>
      </p:sp>
      <p:sp>
        <p:nvSpPr>
          <p:cNvPr id="25" name="Text 2"/>
          <p:cNvSpPr/>
          <p:nvPr/>
        </p:nvSpPr>
        <p:spPr>
          <a:xfrm>
            <a:off x="3210461" y="5181600"/>
            <a:ext cx="64008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学生姓名</a:t>
            </a:r>
            <a:endParaRPr lang="en-US" sz="1050" dirty="0"/>
          </a:p>
        </p:txBody>
      </p:sp>
      <p:sp>
        <p:nvSpPr>
          <p:cNvPr id="26" name="Text 3"/>
          <p:cNvSpPr/>
          <p:nvPr/>
        </p:nvSpPr>
        <p:spPr>
          <a:xfrm>
            <a:off x="3342605" y="5372100"/>
            <a:ext cx="3759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XXX</a:t>
            </a:r>
            <a:endParaRPr lang="en-US" sz="1200" dirty="0"/>
          </a:p>
        </p:txBody>
      </p:sp>
      <p:sp>
        <p:nvSpPr>
          <p:cNvPr id="27" name="Text 4"/>
          <p:cNvSpPr/>
          <p:nvPr/>
        </p:nvSpPr>
        <p:spPr>
          <a:xfrm>
            <a:off x="5935831" y="5181600"/>
            <a:ext cx="32004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学号</a:t>
            </a:r>
            <a:endParaRPr lang="en-US" sz="1050" dirty="0"/>
          </a:p>
        </p:txBody>
      </p:sp>
      <p:sp>
        <p:nvSpPr>
          <p:cNvPr id="28" name="Text 5"/>
          <p:cNvSpPr/>
          <p:nvPr/>
        </p:nvSpPr>
        <p:spPr>
          <a:xfrm>
            <a:off x="5907956" y="5372100"/>
            <a:ext cx="3759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XXX</a:t>
            </a:r>
            <a:endParaRPr lang="en-US" sz="1200" dirty="0"/>
          </a:p>
        </p:txBody>
      </p:sp>
      <p:sp>
        <p:nvSpPr>
          <p:cNvPr id="29" name="Text 6"/>
          <p:cNvSpPr/>
          <p:nvPr/>
        </p:nvSpPr>
        <p:spPr>
          <a:xfrm>
            <a:off x="8341162" y="5181600"/>
            <a:ext cx="64008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指导老师</a:t>
            </a:r>
            <a:endParaRPr lang="en-US" sz="1050" dirty="0"/>
          </a:p>
        </p:txBody>
      </p:sp>
      <p:sp>
        <p:nvSpPr>
          <p:cNvPr id="30" name="Text 7"/>
          <p:cNvSpPr/>
          <p:nvPr/>
        </p:nvSpPr>
        <p:spPr>
          <a:xfrm>
            <a:off x="8473306" y="5372100"/>
            <a:ext cx="3759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XXX</a:t>
            </a:r>
            <a:endParaRPr lang="en-US" sz="1200" dirty="0"/>
          </a:p>
        </p:txBody>
      </p:sp>
      <p:sp>
        <p:nvSpPr>
          <p:cNvPr id="31" name="Text 8"/>
          <p:cNvSpPr/>
          <p:nvPr/>
        </p:nvSpPr>
        <p:spPr>
          <a:xfrm>
            <a:off x="361950" y="6477000"/>
            <a:ext cx="94761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2026年1月</a:t>
            </a:r>
            <a:endParaRPr lang="en-US" sz="1200" dirty="0"/>
          </a:p>
        </p:txBody>
      </p:sp>
      <p:sp>
        <p:nvSpPr>
          <p:cNvPr id="32" name="Text 9"/>
          <p:cNvSpPr/>
          <p:nvPr/>
        </p:nvSpPr>
        <p:spPr>
          <a:xfrm>
            <a:off x="11430000" y="6477000"/>
            <a:ext cx="73152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软件学院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81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0668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447800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981200"/>
            <a:ext cx="2667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085975"/>
            <a:ext cx="1143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667000"/>
            <a:ext cx="2667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771775"/>
            <a:ext cx="1143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3352800"/>
            <a:ext cx="3048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3457575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4038600"/>
            <a:ext cx="32385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4143375"/>
            <a:ext cx="17145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0" y="1409700"/>
            <a:ext cx="5486400" cy="3086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1447800"/>
            <a:ext cx="171450" cy="228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1981200"/>
            <a:ext cx="466725" cy="4953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15100" y="2095500"/>
            <a:ext cx="238125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2743200"/>
            <a:ext cx="447675" cy="4953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15100" y="2857500"/>
            <a:ext cx="219075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0" y="3695700"/>
            <a:ext cx="466725" cy="4953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15100" y="3810000"/>
            <a:ext cx="238125" cy="2667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609600" y="609600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选题背景与意义</a:t>
            </a:r>
            <a:endParaRPr lang="en-US" sz="2700" dirty="0"/>
          </a:p>
        </p:txBody>
      </p:sp>
      <p:sp>
        <p:nvSpPr>
          <p:cNvPr id="24" name="Text 1"/>
          <p:cNvSpPr/>
          <p:nvPr/>
        </p:nvSpPr>
        <p:spPr>
          <a:xfrm>
            <a:off x="952500" y="1409700"/>
            <a:ext cx="51816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40A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传统报修方式存在的问题</a:t>
            </a:r>
            <a:endParaRPr lang="en-US" sz="1800" dirty="0"/>
          </a:p>
        </p:txBody>
      </p:sp>
      <p:sp>
        <p:nvSpPr>
          <p:cNvPr id="25" name="Text 2"/>
          <p:cNvSpPr/>
          <p:nvPr/>
        </p:nvSpPr>
        <p:spPr>
          <a:xfrm>
            <a:off x="1028700" y="1943100"/>
            <a:ext cx="4572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信息不规范，易遗漏</a:t>
            </a:r>
            <a:endParaRPr lang="en-US" sz="1500" dirty="0"/>
          </a:p>
        </p:txBody>
      </p:sp>
      <p:sp>
        <p:nvSpPr>
          <p:cNvPr id="26" name="Text 3"/>
          <p:cNvSpPr/>
          <p:nvPr/>
        </p:nvSpPr>
        <p:spPr>
          <a:xfrm>
            <a:off x="1028700" y="2209800"/>
            <a:ext cx="5486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纸质报修单易丢失，微信群信息易混乱，导致维修信息不完整或丢失</a:t>
            </a:r>
            <a:endParaRPr lang="en-US" sz="1200" dirty="0"/>
          </a:p>
        </p:txBody>
      </p:sp>
      <p:sp>
        <p:nvSpPr>
          <p:cNvPr id="27" name="Text 4"/>
          <p:cNvSpPr/>
          <p:nvPr/>
        </p:nvSpPr>
        <p:spPr>
          <a:xfrm>
            <a:off x="1028700" y="2628900"/>
            <a:ext cx="420624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维修进度无法实时追踪</a:t>
            </a:r>
            <a:endParaRPr lang="en-US" sz="1500" dirty="0"/>
          </a:p>
        </p:txBody>
      </p:sp>
      <p:sp>
        <p:nvSpPr>
          <p:cNvPr id="28" name="Text 5"/>
          <p:cNvSpPr/>
          <p:nvPr/>
        </p:nvSpPr>
        <p:spPr>
          <a:xfrm>
            <a:off x="1028700" y="2895600"/>
            <a:ext cx="42062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学生无法了解维修状态，延长等待时间，增加焦虑感</a:t>
            </a:r>
            <a:endParaRPr lang="en-US" sz="1200" dirty="0"/>
          </a:p>
        </p:txBody>
      </p:sp>
      <p:sp>
        <p:nvSpPr>
          <p:cNvPr id="29" name="Text 6"/>
          <p:cNvSpPr/>
          <p:nvPr/>
        </p:nvSpPr>
        <p:spPr>
          <a:xfrm>
            <a:off x="1066800" y="3314700"/>
            <a:ext cx="384048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缺乏评价与反馈机制</a:t>
            </a:r>
            <a:endParaRPr lang="en-US" sz="1500" dirty="0"/>
          </a:p>
        </p:txBody>
      </p:sp>
      <p:sp>
        <p:nvSpPr>
          <p:cNvPr id="30" name="Text 7"/>
          <p:cNvSpPr/>
          <p:nvPr/>
        </p:nvSpPr>
        <p:spPr>
          <a:xfrm>
            <a:off x="1066800" y="3581400"/>
            <a:ext cx="38404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无法对维修质量和服务进行评估，难以持续改进</a:t>
            </a:r>
            <a:endParaRPr lang="en-US" sz="1200" dirty="0"/>
          </a:p>
        </p:txBody>
      </p:sp>
      <p:sp>
        <p:nvSpPr>
          <p:cNvPr id="31" name="Text 8"/>
          <p:cNvSpPr/>
          <p:nvPr/>
        </p:nvSpPr>
        <p:spPr>
          <a:xfrm>
            <a:off x="1085850" y="4000500"/>
            <a:ext cx="402336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管理端无法统计维修数据</a:t>
            </a:r>
            <a:endParaRPr lang="en-US" sz="1500" dirty="0"/>
          </a:p>
        </p:txBody>
      </p:sp>
      <p:sp>
        <p:nvSpPr>
          <p:cNvPr id="32" name="Text 9"/>
          <p:cNvSpPr/>
          <p:nvPr/>
        </p:nvSpPr>
        <p:spPr>
          <a:xfrm>
            <a:off x="1085850" y="4267200"/>
            <a:ext cx="402336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难以分析维修趋势，优化资源配置，提高管理效率</a:t>
            </a:r>
            <a:endParaRPr lang="en-US" sz="1200" dirty="0"/>
          </a:p>
        </p:txBody>
      </p:sp>
      <p:sp>
        <p:nvSpPr>
          <p:cNvPr id="33" name="Text 10"/>
          <p:cNvSpPr/>
          <p:nvPr/>
        </p:nvSpPr>
        <p:spPr>
          <a:xfrm>
            <a:off x="6686550" y="1409700"/>
            <a:ext cx="51816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40A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项目意义</a:t>
            </a:r>
            <a:endParaRPr lang="en-US" sz="1800" dirty="0"/>
          </a:p>
        </p:txBody>
      </p:sp>
      <p:sp>
        <p:nvSpPr>
          <p:cNvPr id="34" name="Text 11"/>
          <p:cNvSpPr/>
          <p:nvPr/>
        </p:nvSpPr>
        <p:spPr>
          <a:xfrm>
            <a:off x="7019925" y="1943100"/>
            <a:ext cx="4349651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技术意义</a:t>
            </a:r>
            <a:endParaRPr lang="en-US" sz="1500" dirty="0"/>
          </a:p>
        </p:txBody>
      </p:sp>
      <p:sp>
        <p:nvSpPr>
          <p:cNvPr id="35" name="Text 12"/>
          <p:cNvSpPr/>
          <p:nvPr/>
        </p:nvSpPr>
        <p:spPr>
          <a:xfrm>
            <a:off x="7019925" y="2209800"/>
            <a:ext cx="5219581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探索Django在高校后勤管理中的应用，为智慧校园建设提供参考</a:t>
            </a:r>
            <a:endParaRPr lang="en-US" sz="1200" dirty="0"/>
          </a:p>
        </p:txBody>
      </p:sp>
      <p:sp>
        <p:nvSpPr>
          <p:cNvPr id="36" name="Text 13"/>
          <p:cNvSpPr/>
          <p:nvPr/>
        </p:nvSpPr>
        <p:spPr>
          <a:xfrm>
            <a:off x="7000875" y="2705100"/>
            <a:ext cx="4581525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实践意义</a:t>
            </a:r>
            <a:endParaRPr lang="en-US" sz="1500" dirty="0"/>
          </a:p>
        </p:txBody>
      </p:sp>
      <p:sp>
        <p:nvSpPr>
          <p:cNvPr id="37" name="Text 14"/>
          <p:cNvSpPr/>
          <p:nvPr/>
        </p:nvSpPr>
        <p:spPr>
          <a:xfrm>
            <a:off x="7000875" y="2971800"/>
            <a:ext cx="4581525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提高宿舍维修响应效率，减少沟通成本，提升后勤服务质量与学生满意度</a:t>
            </a:r>
            <a:endParaRPr lang="en-US" sz="1200" dirty="0"/>
          </a:p>
        </p:txBody>
      </p:sp>
      <p:sp>
        <p:nvSpPr>
          <p:cNvPr id="38" name="Text 15"/>
          <p:cNvSpPr/>
          <p:nvPr/>
        </p:nvSpPr>
        <p:spPr>
          <a:xfrm>
            <a:off x="7019925" y="3657600"/>
            <a:ext cx="4562475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教育意义</a:t>
            </a:r>
            <a:endParaRPr lang="en-US" sz="1500" dirty="0"/>
          </a:p>
        </p:txBody>
      </p:sp>
      <p:sp>
        <p:nvSpPr>
          <p:cNvPr id="39" name="Text 16"/>
          <p:cNvSpPr/>
          <p:nvPr/>
        </p:nvSpPr>
        <p:spPr>
          <a:xfrm>
            <a:off x="7019925" y="3924300"/>
            <a:ext cx="45624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通过项目实践，提升系统的分析、设计、开发与测试能力，增强工程素养与团队协作能力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81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0668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33500"/>
            <a:ext cx="3505200" cy="1447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1524000"/>
            <a:ext cx="419100" cy="495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1638300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1333500"/>
            <a:ext cx="3505200" cy="1447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3900" y="1524000"/>
            <a:ext cx="447675" cy="495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8200" y="1638300"/>
            <a:ext cx="219075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77200" y="1333500"/>
            <a:ext cx="3505200" cy="1447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67700" y="1524000"/>
            <a:ext cx="466725" cy="4953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2000" y="1638300"/>
            <a:ext cx="238125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3009900"/>
            <a:ext cx="3505200" cy="1447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100" y="3200400"/>
            <a:ext cx="419100" cy="4953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4400" y="3314700"/>
            <a:ext cx="190500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43400" y="3009900"/>
            <a:ext cx="3505200" cy="1447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33900" y="3200400"/>
            <a:ext cx="419100" cy="4953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48200" y="3314700"/>
            <a:ext cx="190500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77200" y="3009900"/>
            <a:ext cx="3505200" cy="1447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67700" y="3200400"/>
            <a:ext cx="371475" cy="4953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82000" y="3314700"/>
            <a:ext cx="142875" cy="266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8675" y="4762500"/>
            <a:ext cx="10534650" cy="1524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57275" y="5410200"/>
            <a:ext cx="1219200" cy="647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590675" y="5553075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324100" y="5724525"/>
            <a:ext cx="457200" cy="1905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828925" y="5410200"/>
            <a:ext cx="1219200" cy="6477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381375" y="5553075"/>
            <a:ext cx="1143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095750" y="5724525"/>
            <a:ext cx="457200" cy="1905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600575" y="5410200"/>
            <a:ext cx="1219200" cy="6477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124450" y="5553075"/>
            <a:ext cx="17145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867400" y="5724525"/>
            <a:ext cx="457200" cy="1905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372225" y="5410200"/>
            <a:ext cx="1219200" cy="6477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905625" y="5553075"/>
            <a:ext cx="152400" cy="1524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639050" y="5724525"/>
            <a:ext cx="457200" cy="1905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143875" y="5410200"/>
            <a:ext cx="1219200" cy="6477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677275" y="5553075"/>
            <a:ext cx="152400" cy="1524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410700" y="5724525"/>
            <a:ext cx="457200" cy="1905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915525" y="5410200"/>
            <a:ext cx="1219200" cy="6477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439400" y="5553075"/>
            <a:ext cx="171450" cy="152400"/>
          </a:xfrm>
          <a:prstGeom prst="rect">
            <a:avLst/>
          </a:prstGeom>
        </p:spPr>
      </p:pic>
      <p:sp>
        <p:nvSpPr>
          <p:cNvPr id="42" name="Text 0"/>
          <p:cNvSpPr/>
          <p:nvPr/>
        </p:nvSpPr>
        <p:spPr>
          <a:xfrm>
            <a:off x="609600" y="609600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主要任务</a:t>
            </a:r>
            <a:endParaRPr lang="en-US" sz="2700" dirty="0"/>
          </a:p>
        </p:txBody>
      </p:sp>
      <p:sp>
        <p:nvSpPr>
          <p:cNvPr id="43" name="Text 1"/>
          <p:cNvSpPr/>
          <p:nvPr/>
        </p:nvSpPr>
        <p:spPr>
          <a:xfrm>
            <a:off x="1333500" y="1638300"/>
            <a:ext cx="16002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需求调研与分析</a:t>
            </a:r>
            <a:endParaRPr lang="en-US" sz="1500" dirty="0"/>
          </a:p>
        </p:txBody>
      </p:sp>
      <p:sp>
        <p:nvSpPr>
          <p:cNvPr id="44" name="Text 2"/>
          <p:cNvSpPr/>
          <p:nvPr/>
        </p:nvSpPr>
        <p:spPr>
          <a:xfrm>
            <a:off x="800100" y="2133600"/>
            <a:ext cx="3124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调研现有宿舍报修系统，分析其功能与不足，明确本系统需求</a:t>
            </a:r>
            <a:endParaRPr lang="en-US" sz="1200" dirty="0"/>
          </a:p>
        </p:txBody>
      </p:sp>
      <p:sp>
        <p:nvSpPr>
          <p:cNvPr id="45" name="Text 3"/>
          <p:cNvSpPr/>
          <p:nvPr/>
        </p:nvSpPr>
        <p:spPr>
          <a:xfrm>
            <a:off x="5095875" y="1638300"/>
            <a:ext cx="1371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系统架构设计</a:t>
            </a:r>
            <a:endParaRPr lang="en-US" sz="1500" dirty="0"/>
          </a:p>
        </p:txBody>
      </p:sp>
      <p:sp>
        <p:nvSpPr>
          <p:cNvPr id="46" name="Text 4"/>
          <p:cNvSpPr/>
          <p:nvPr/>
        </p:nvSpPr>
        <p:spPr>
          <a:xfrm>
            <a:off x="4533900" y="2133600"/>
            <a:ext cx="3124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设计系统整体架构，划分功能模块（学生端/维修端/管理员端）</a:t>
            </a:r>
            <a:endParaRPr lang="en-US" sz="1200" dirty="0"/>
          </a:p>
        </p:txBody>
      </p:sp>
      <p:sp>
        <p:nvSpPr>
          <p:cNvPr id="47" name="Text 5"/>
          <p:cNvSpPr/>
          <p:nvPr/>
        </p:nvSpPr>
        <p:spPr>
          <a:xfrm>
            <a:off x="8848725" y="1638300"/>
            <a:ext cx="1820227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Django后台开发</a:t>
            </a:r>
            <a:endParaRPr lang="en-US" sz="1500" dirty="0"/>
          </a:p>
        </p:txBody>
      </p:sp>
      <p:sp>
        <p:nvSpPr>
          <p:cNvPr id="48" name="Text 6"/>
          <p:cNvSpPr/>
          <p:nvPr/>
        </p:nvSpPr>
        <p:spPr>
          <a:xfrm>
            <a:off x="8267700" y="2133600"/>
            <a:ext cx="3124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实现用户注册、登录、权限管理、工单流转等核心功能</a:t>
            </a:r>
            <a:endParaRPr lang="en-US" sz="1200" dirty="0"/>
          </a:p>
        </p:txBody>
      </p:sp>
      <p:sp>
        <p:nvSpPr>
          <p:cNvPr id="49" name="Text 7"/>
          <p:cNvSpPr/>
          <p:nvPr/>
        </p:nvSpPr>
        <p:spPr>
          <a:xfrm>
            <a:off x="1333500" y="3314700"/>
            <a:ext cx="1828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工单状态流转实现</a:t>
            </a:r>
            <a:endParaRPr lang="en-US" sz="1500" dirty="0"/>
          </a:p>
        </p:txBody>
      </p:sp>
      <p:sp>
        <p:nvSpPr>
          <p:cNvPr id="50" name="Text 8"/>
          <p:cNvSpPr/>
          <p:nvPr/>
        </p:nvSpPr>
        <p:spPr>
          <a:xfrm>
            <a:off x="800100" y="3810000"/>
            <a:ext cx="3124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实现工单从提交到评价的全流程状态管理与追踪</a:t>
            </a:r>
            <a:endParaRPr lang="en-US" sz="1200" dirty="0"/>
          </a:p>
        </p:txBody>
      </p:sp>
      <p:sp>
        <p:nvSpPr>
          <p:cNvPr id="51" name="Text 9"/>
          <p:cNvSpPr/>
          <p:nvPr/>
        </p:nvSpPr>
        <p:spPr>
          <a:xfrm>
            <a:off x="5067300" y="3314700"/>
            <a:ext cx="914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系统测试</a:t>
            </a:r>
            <a:endParaRPr lang="en-US" sz="1500" dirty="0"/>
          </a:p>
        </p:txBody>
      </p:sp>
      <p:sp>
        <p:nvSpPr>
          <p:cNvPr id="52" name="Text 10"/>
          <p:cNvSpPr/>
          <p:nvPr/>
        </p:nvSpPr>
        <p:spPr>
          <a:xfrm>
            <a:off x="4533900" y="3810000"/>
            <a:ext cx="3124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进行功能测试、性能测试、安全性测试，确保系统质量</a:t>
            </a:r>
            <a:endParaRPr lang="en-US" sz="1200" dirty="0"/>
          </a:p>
        </p:txBody>
      </p:sp>
      <p:sp>
        <p:nvSpPr>
          <p:cNvPr id="53" name="Text 11"/>
          <p:cNvSpPr/>
          <p:nvPr/>
        </p:nvSpPr>
        <p:spPr>
          <a:xfrm>
            <a:off x="8753475" y="3314700"/>
            <a:ext cx="2057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论文撰写与文档整理</a:t>
            </a:r>
            <a:endParaRPr lang="en-US" sz="1500" dirty="0"/>
          </a:p>
        </p:txBody>
      </p:sp>
      <p:sp>
        <p:nvSpPr>
          <p:cNvPr id="54" name="Text 12"/>
          <p:cNvSpPr/>
          <p:nvPr/>
        </p:nvSpPr>
        <p:spPr>
          <a:xfrm>
            <a:off x="8267700" y="3810000"/>
            <a:ext cx="3124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撰写毕业论文，整理开发文档、使用说明书与部署指南</a:t>
            </a:r>
            <a:endParaRPr lang="en-US" sz="1200" dirty="0"/>
          </a:p>
        </p:txBody>
      </p:sp>
      <p:sp>
        <p:nvSpPr>
          <p:cNvPr id="55" name="Text 13"/>
          <p:cNvSpPr/>
          <p:nvPr/>
        </p:nvSpPr>
        <p:spPr>
          <a:xfrm>
            <a:off x="1057275" y="4991100"/>
            <a:ext cx="1007745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工单状态流转流程</a:t>
            </a:r>
            <a:endParaRPr lang="en-US" sz="1500" dirty="0"/>
          </a:p>
        </p:txBody>
      </p:sp>
      <p:sp>
        <p:nvSpPr>
          <p:cNvPr id="56" name="Text 14"/>
          <p:cNvSpPr/>
          <p:nvPr/>
        </p:nvSpPr>
        <p:spPr>
          <a:xfrm>
            <a:off x="1171575" y="5753100"/>
            <a:ext cx="9906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提交</a:t>
            </a:r>
            <a:endParaRPr lang="en-US" sz="1050" dirty="0"/>
          </a:p>
        </p:txBody>
      </p:sp>
      <p:sp>
        <p:nvSpPr>
          <p:cNvPr id="57" name="Text 15"/>
          <p:cNvSpPr/>
          <p:nvPr/>
        </p:nvSpPr>
        <p:spPr>
          <a:xfrm>
            <a:off x="2943225" y="5753100"/>
            <a:ext cx="9906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审核</a:t>
            </a:r>
            <a:endParaRPr lang="en-US" sz="1050" dirty="0"/>
          </a:p>
        </p:txBody>
      </p:sp>
      <p:sp>
        <p:nvSpPr>
          <p:cNvPr id="58" name="Text 16"/>
          <p:cNvSpPr/>
          <p:nvPr/>
        </p:nvSpPr>
        <p:spPr>
          <a:xfrm>
            <a:off x="4714875" y="5753100"/>
            <a:ext cx="9906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派单</a:t>
            </a:r>
            <a:endParaRPr lang="en-US" sz="1050" dirty="0"/>
          </a:p>
        </p:txBody>
      </p:sp>
      <p:sp>
        <p:nvSpPr>
          <p:cNvPr id="59" name="Text 17"/>
          <p:cNvSpPr/>
          <p:nvPr/>
        </p:nvSpPr>
        <p:spPr>
          <a:xfrm>
            <a:off x="6486525" y="5753100"/>
            <a:ext cx="9906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维修</a:t>
            </a:r>
            <a:endParaRPr lang="en-US" sz="1050" dirty="0"/>
          </a:p>
        </p:txBody>
      </p:sp>
      <p:sp>
        <p:nvSpPr>
          <p:cNvPr id="60" name="Text 18"/>
          <p:cNvSpPr/>
          <p:nvPr/>
        </p:nvSpPr>
        <p:spPr>
          <a:xfrm>
            <a:off x="8258175" y="5753100"/>
            <a:ext cx="9906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完成</a:t>
            </a:r>
            <a:endParaRPr lang="en-US" sz="1050" dirty="0"/>
          </a:p>
        </p:txBody>
      </p:sp>
      <p:sp>
        <p:nvSpPr>
          <p:cNvPr id="61" name="Text 19"/>
          <p:cNvSpPr/>
          <p:nvPr/>
        </p:nvSpPr>
        <p:spPr>
          <a:xfrm>
            <a:off x="10029825" y="5753100"/>
            <a:ext cx="9906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评价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81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0668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409700"/>
            <a:ext cx="3505200" cy="428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1638300"/>
            <a:ext cx="609600" cy="609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1225" y="1771650"/>
            <a:ext cx="36195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2971800"/>
            <a:ext cx="28575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3076575"/>
            <a:ext cx="13335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3848100"/>
            <a:ext cx="32385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3952875"/>
            <a:ext cx="1714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" y="4495800"/>
            <a:ext cx="28575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4600575"/>
            <a:ext cx="13335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409700"/>
            <a:ext cx="3505200" cy="42862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91200" y="1638300"/>
            <a:ext cx="609600" cy="609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53125" y="1771650"/>
            <a:ext cx="285750" cy="342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0" y="2971800"/>
            <a:ext cx="285750" cy="381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48200" y="3076575"/>
            <a:ext cx="13335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0" y="3619500"/>
            <a:ext cx="304800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48200" y="3724275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72000" y="4495800"/>
            <a:ext cx="304800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48200" y="4600575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1409700"/>
            <a:ext cx="3505200" cy="42862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525000" y="1638300"/>
            <a:ext cx="609600" cy="6096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686925" y="1771650"/>
            <a:ext cx="285750" cy="3429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05800" y="2971800"/>
            <a:ext cx="323850" cy="3810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82000" y="3076575"/>
            <a:ext cx="17145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305800" y="3619500"/>
            <a:ext cx="342900" cy="3810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82000" y="3724275"/>
            <a:ext cx="1905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05800" y="4267200"/>
            <a:ext cx="304800" cy="3810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382000" y="4371975"/>
            <a:ext cx="152400" cy="152400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609600" y="609600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可行性分析</a:t>
            </a:r>
            <a:endParaRPr lang="en-US" sz="2700" dirty="0"/>
          </a:p>
        </p:txBody>
      </p:sp>
      <p:sp>
        <p:nvSpPr>
          <p:cNvPr id="34" name="Text 1"/>
          <p:cNvSpPr/>
          <p:nvPr/>
        </p:nvSpPr>
        <p:spPr>
          <a:xfrm>
            <a:off x="838200" y="2476500"/>
            <a:ext cx="3048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40A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技术可行性</a:t>
            </a:r>
            <a:endParaRPr lang="en-US" sz="1800" dirty="0"/>
          </a:p>
        </p:txBody>
      </p:sp>
      <p:sp>
        <p:nvSpPr>
          <p:cNvPr id="35" name="Text 2"/>
          <p:cNvSpPr/>
          <p:nvPr/>
        </p:nvSpPr>
        <p:spPr>
          <a:xfrm>
            <a:off x="1238250" y="2933700"/>
            <a:ext cx="264795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Django框架</a:t>
            </a:r>
            <a:endParaRPr lang="en-US" sz="1350" dirty="0"/>
          </a:p>
        </p:txBody>
      </p:sp>
      <p:sp>
        <p:nvSpPr>
          <p:cNvPr id="36" name="Text 3"/>
          <p:cNvSpPr/>
          <p:nvPr/>
        </p:nvSpPr>
        <p:spPr>
          <a:xfrm>
            <a:off x="1238250" y="3200400"/>
            <a:ext cx="26479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成熟的Python Web框架，ORM、认证、权限系统完善</a:t>
            </a:r>
            <a:endParaRPr lang="en-US" sz="1200" dirty="0"/>
          </a:p>
        </p:txBody>
      </p:sp>
      <p:sp>
        <p:nvSpPr>
          <p:cNvPr id="37" name="Text 4"/>
          <p:cNvSpPr/>
          <p:nvPr/>
        </p:nvSpPr>
        <p:spPr>
          <a:xfrm>
            <a:off x="1276350" y="3810000"/>
            <a:ext cx="2450009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前端技术</a:t>
            </a:r>
            <a:endParaRPr lang="en-US" sz="1350" dirty="0"/>
          </a:p>
        </p:txBody>
      </p:sp>
      <p:sp>
        <p:nvSpPr>
          <p:cNvPr id="38" name="Text 5"/>
          <p:cNvSpPr/>
          <p:nvPr/>
        </p:nvSpPr>
        <p:spPr>
          <a:xfrm>
            <a:off x="1276350" y="4076700"/>
            <a:ext cx="294001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Bootstrap/Vue快速构建响应式界面</a:t>
            </a:r>
            <a:endParaRPr lang="en-US" sz="1200" dirty="0"/>
          </a:p>
        </p:txBody>
      </p:sp>
      <p:sp>
        <p:nvSpPr>
          <p:cNvPr id="39" name="Text 6"/>
          <p:cNvSpPr/>
          <p:nvPr/>
        </p:nvSpPr>
        <p:spPr>
          <a:xfrm>
            <a:off x="1238250" y="4457700"/>
            <a:ext cx="1834158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数据库</a:t>
            </a:r>
            <a:endParaRPr lang="en-US" sz="1350" dirty="0"/>
          </a:p>
        </p:txBody>
      </p:sp>
      <p:sp>
        <p:nvSpPr>
          <p:cNvPr id="40" name="Text 7"/>
          <p:cNvSpPr/>
          <p:nvPr/>
        </p:nvSpPr>
        <p:spPr>
          <a:xfrm>
            <a:off x="1238250" y="4724400"/>
            <a:ext cx="2200989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MySQL/SQLite，稳定可靠</a:t>
            </a:r>
            <a:endParaRPr lang="en-US" sz="1200" dirty="0"/>
          </a:p>
        </p:txBody>
      </p:sp>
      <p:sp>
        <p:nvSpPr>
          <p:cNvPr id="41" name="Text 8"/>
          <p:cNvSpPr/>
          <p:nvPr/>
        </p:nvSpPr>
        <p:spPr>
          <a:xfrm>
            <a:off x="4572000" y="2476500"/>
            <a:ext cx="3048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66534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经济可行性</a:t>
            </a:r>
            <a:endParaRPr lang="en-US" sz="1800" dirty="0"/>
          </a:p>
        </p:txBody>
      </p:sp>
      <p:sp>
        <p:nvSpPr>
          <p:cNvPr id="42" name="Text 9"/>
          <p:cNvSpPr/>
          <p:nvPr/>
        </p:nvSpPr>
        <p:spPr>
          <a:xfrm>
            <a:off x="4972050" y="2933700"/>
            <a:ext cx="1828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开源技术</a:t>
            </a:r>
            <a:endParaRPr lang="en-US" sz="1350" dirty="0"/>
          </a:p>
        </p:txBody>
      </p:sp>
      <p:sp>
        <p:nvSpPr>
          <p:cNvPr id="43" name="Text 10"/>
          <p:cNvSpPr/>
          <p:nvPr/>
        </p:nvSpPr>
        <p:spPr>
          <a:xfrm>
            <a:off x="4972050" y="3200400"/>
            <a:ext cx="219456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全部采用开源技术，零成本</a:t>
            </a:r>
            <a:endParaRPr lang="en-US" sz="1200" dirty="0"/>
          </a:p>
        </p:txBody>
      </p:sp>
      <p:sp>
        <p:nvSpPr>
          <p:cNvPr id="44" name="Text 11"/>
          <p:cNvSpPr/>
          <p:nvPr/>
        </p:nvSpPr>
        <p:spPr>
          <a:xfrm>
            <a:off x="4991100" y="3581400"/>
            <a:ext cx="26289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部署成本</a:t>
            </a:r>
            <a:endParaRPr lang="en-US" sz="1350" dirty="0"/>
          </a:p>
        </p:txBody>
      </p:sp>
      <p:sp>
        <p:nvSpPr>
          <p:cNvPr id="45" name="Text 12"/>
          <p:cNvSpPr/>
          <p:nvPr/>
        </p:nvSpPr>
        <p:spPr>
          <a:xfrm>
            <a:off x="4991100" y="3848100"/>
            <a:ext cx="26289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可部署在校园服务器，无需额外服务器费用</a:t>
            </a:r>
            <a:endParaRPr lang="en-US" sz="1200" dirty="0"/>
          </a:p>
        </p:txBody>
      </p:sp>
      <p:sp>
        <p:nvSpPr>
          <p:cNvPr id="46" name="Text 13"/>
          <p:cNvSpPr/>
          <p:nvPr/>
        </p:nvSpPr>
        <p:spPr>
          <a:xfrm>
            <a:off x="4991100" y="4457700"/>
            <a:ext cx="2438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维护成本</a:t>
            </a:r>
            <a:endParaRPr lang="en-US" sz="1350" dirty="0"/>
          </a:p>
        </p:txBody>
      </p:sp>
      <p:sp>
        <p:nvSpPr>
          <p:cNvPr id="47" name="Text 14"/>
          <p:cNvSpPr/>
          <p:nvPr/>
        </p:nvSpPr>
        <p:spPr>
          <a:xfrm>
            <a:off x="4991100" y="4724400"/>
            <a:ext cx="29260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开源技术社区支持，长期维护成本低</a:t>
            </a:r>
            <a:endParaRPr lang="en-US" sz="1200" dirty="0"/>
          </a:p>
        </p:txBody>
      </p:sp>
      <p:sp>
        <p:nvSpPr>
          <p:cNvPr id="48" name="Text 15"/>
          <p:cNvSpPr/>
          <p:nvPr/>
        </p:nvSpPr>
        <p:spPr>
          <a:xfrm>
            <a:off x="8305800" y="2476500"/>
            <a:ext cx="3048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854D0E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操作可行性</a:t>
            </a:r>
            <a:endParaRPr lang="en-US" sz="1800" dirty="0"/>
          </a:p>
        </p:txBody>
      </p:sp>
      <p:sp>
        <p:nvSpPr>
          <p:cNvPr id="49" name="Text 16"/>
          <p:cNvSpPr/>
          <p:nvPr/>
        </p:nvSpPr>
        <p:spPr>
          <a:xfrm>
            <a:off x="8743950" y="2933700"/>
            <a:ext cx="2590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界面简洁</a:t>
            </a:r>
            <a:endParaRPr lang="en-US" sz="1350" dirty="0"/>
          </a:p>
        </p:txBody>
      </p:sp>
      <p:sp>
        <p:nvSpPr>
          <p:cNvPr id="50" name="Text 17"/>
          <p:cNvSpPr/>
          <p:nvPr/>
        </p:nvSpPr>
        <p:spPr>
          <a:xfrm>
            <a:off x="8743950" y="3200400"/>
            <a:ext cx="310896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清晰的用户界面，角色分明，操作直观</a:t>
            </a:r>
            <a:endParaRPr lang="en-US" sz="1200" dirty="0"/>
          </a:p>
        </p:txBody>
      </p:sp>
      <p:sp>
        <p:nvSpPr>
          <p:cNvPr id="51" name="Text 18"/>
          <p:cNvSpPr/>
          <p:nvPr/>
        </p:nvSpPr>
        <p:spPr>
          <a:xfrm>
            <a:off x="8763000" y="3581400"/>
            <a:ext cx="2133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操作门槛低</a:t>
            </a:r>
            <a:endParaRPr lang="en-US" sz="1350" dirty="0"/>
          </a:p>
        </p:txBody>
      </p:sp>
      <p:sp>
        <p:nvSpPr>
          <p:cNvPr id="52" name="Text 19"/>
          <p:cNvSpPr/>
          <p:nvPr/>
        </p:nvSpPr>
        <p:spPr>
          <a:xfrm>
            <a:off x="8763000" y="3848100"/>
            <a:ext cx="256032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易于学习和使用，降低培训成本</a:t>
            </a:r>
            <a:endParaRPr lang="en-US" sz="1200" dirty="0"/>
          </a:p>
        </p:txBody>
      </p:sp>
      <p:sp>
        <p:nvSpPr>
          <p:cNvPr id="53" name="Text 20"/>
          <p:cNvSpPr/>
          <p:nvPr/>
        </p:nvSpPr>
        <p:spPr>
          <a:xfrm>
            <a:off x="8724900" y="4229100"/>
            <a:ext cx="2438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易于推广</a:t>
            </a:r>
            <a:endParaRPr lang="en-US" sz="1350" dirty="0"/>
          </a:p>
        </p:txBody>
      </p:sp>
      <p:sp>
        <p:nvSpPr>
          <p:cNvPr id="54" name="Text 21"/>
          <p:cNvSpPr/>
          <p:nvPr/>
        </p:nvSpPr>
        <p:spPr>
          <a:xfrm>
            <a:off x="8724900" y="4495800"/>
            <a:ext cx="29260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用户体验好，易于在校园内推广应用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81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0668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409700"/>
            <a:ext cx="3810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866900"/>
            <a:ext cx="109728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866900"/>
            <a:ext cx="2194471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438400"/>
            <a:ext cx="228600" cy="228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933700"/>
            <a:ext cx="28575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3038475"/>
            <a:ext cx="13335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543300"/>
            <a:ext cx="32385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3648075"/>
            <a:ext cx="17145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4152900"/>
            <a:ext cx="323850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4257675"/>
            <a:ext cx="17145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4762500"/>
            <a:ext cx="3048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4867275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5372100"/>
            <a:ext cx="342900" cy="381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5476875"/>
            <a:ext cx="1905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0" y="2400300"/>
            <a:ext cx="5486400" cy="34671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00800" y="2438400"/>
            <a:ext cx="228600" cy="2286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0" y="2933700"/>
            <a:ext cx="266700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77000" y="3038475"/>
            <a:ext cx="1143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00800" y="3543300"/>
            <a:ext cx="323850" cy="381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77000" y="3648075"/>
            <a:ext cx="17145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00800" y="4152900"/>
            <a:ext cx="304800" cy="3810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77000" y="4257675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5"/>
          <a:srcRect r="21320"/>
          <a:stretch>
            <a:fillRect/>
          </a:stretch>
        </p:blipFill>
        <p:spPr>
          <a:xfrm>
            <a:off x="6705600" y="5257800"/>
            <a:ext cx="3963035" cy="571500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609600" y="609600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目前进度</a:t>
            </a:r>
            <a:endParaRPr lang="en-US" sz="2700" dirty="0"/>
          </a:p>
        </p:txBody>
      </p:sp>
      <p:sp>
        <p:nvSpPr>
          <p:cNvPr id="30" name="Text 1"/>
          <p:cNvSpPr/>
          <p:nvPr/>
        </p:nvSpPr>
        <p:spPr>
          <a:xfrm>
            <a:off x="617637" y="1485900"/>
            <a:ext cx="437733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20%</a:t>
            </a:r>
            <a:endParaRPr lang="en-US" sz="1200" dirty="0"/>
          </a:p>
        </p:txBody>
      </p:sp>
      <p:sp>
        <p:nvSpPr>
          <p:cNvPr id="31" name="Text 2"/>
          <p:cNvSpPr/>
          <p:nvPr/>
        </p:nvSpPr>
        <p:spPr>
          <a:xfrm>
            <a:off x="1104900" y="1466850"/>
            <a:ext cx="1143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当前完成度</a:t>
            </a:r>
            <a:endParaRPr lang="en-US" sz="1500" dirty="0"/>
          </a:p>
        </p:txBody>
      </p:sp>
      <p:sp>
        <p:nvSpPr>
          <p:cNvPr id="32" name="Text 3"/>
          <p:cNvSpPr/>
          <p:nvPr/>
        </p:nvSpPr>
        <p:spPr>
          <a:xfrm>
            <a:off x="10462260" y="1495425"/>
            <a:ext cx="462022" cy="20002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350" dirty="0">
                <a:solidFill>
                  <a:srgbClr val="1E3A8A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5/25</a:t>
            </a:r>
            <a:endParaRPr lang="en-US" sz="1350" dirty="0"/>
          </a:p>
        </p:txBody>
      </p:sp>
      <p:sp>
        <p:nvSpPr>
          <p:cNvPr id="33" name="Text 4"/>
          <p:cNvSpPr/>
          <p:nvPr/>
        </p:nvSpPr>
        <p:spPr>
          <a:xfrm>
            <a:off x="10942320" y="1533525"/>
            <a:ext cx="64008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任务完成</a:t>
            </a:r>
            <a:endParaRPr lang="en-US" sz="1050" dirty="0"/>
          </a:p>
        </p:txBody>
      </p:sp>
      <p:sp>
        <p:nvSpPr>
          <p:cNvPr id="34" name="Text 5"/>
          <p:cNvSpPr/>
          <p:nvPr/>
        </p:nvSpPr>
        <p:spPr>
          <a:xfrm>
            <a:off x="952500" y="2400300"/>
            <a:ext cx="51816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40A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已完成任务</a:t>
            </a:r>
            <a:endParaRPr lang="en-US" sz="1800" dirty="0"/>
          </a:p>
        </p:txBody>
      </p:sp>
      <p:sp>
        <p:nvSpPr>
          <p:cNvPr id="35" name="Text 6"/>
          <p:cNvSpPr/>
          <p:nvPr/>
        </p:nvSpPr>
        <p:spPr>
          <a:xfrm>
            <a:off x="1047750" y="2895600"/>
            <a:ext cx="288036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文献调研与需求分析</a:t>
            </a:r>
            <a:endParaRPr lang="en-US" sz="1350" dirty="0"/>
          </a:p>
        </p:txBody>
      </p:sp>
      <p:sp>
        <p:nvSpPr>
          <p:cNvPr id="36" name="Text 7"/>
          <p:cNvSpPr/>
          <p:nvPr/>
        </p:nvSpPr>
        <p:spPr>
          <a:xfrm>
            <a:off x="1047750" y="3162300"/>
            <a:ext cx="288036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分析现有宿舍报修系统，明确本系统需求</a:t>
            </a:r>
            <a:endParaRPr lang="en-US" sz="1050" dirty="0"/>
          </a:p>
        </p:txBody>
      </p:sp>
      <p:sp>
        <p:nvSpPr>
          <p:cNvPr id="37" name="Text 8"/>
          <p:cNvSpPr/>
          <p:nvPr/>
        </p:nvSpPr>
        <p:spPr>
          <a:xfrm>
            <a:off x="1085850" y="3505200"/>
            <a:ext cx="3200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系统总体架构设计</a:t>
            </a:r>
            <a:endParaRPr lang="en-US" sz="1350" dirty="0"/>
          </a:p>
        </p:txBody>
      </p:sp>
      <p:sp>
        <p:nvSpPr>
          <p:cNvPr id="38" name="Text 9"/>
          <p:cNvSpPr/>
          <p:nvPr/>
        </p:nvSpPr>
        <p:spPr>
          <a:xfrm>
            <a:off x="1085850" y="3771900"/>
            <a:ext cx="32004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划分功能模块（学生端、维修端、管理员端）</a:t>
            </a:r>
            <a:endParaRPr lang="en-US" sz="1050" dirty="0"/>
          </a:p>
        </p:txBody>
      </p:sp>
      <p:sp>
        <p:nvSpPr>
          <p:cNvPr id="39" name="Text 10"/>
          <p:cNvSpPr/>
          <p:nvPr/>
        </p:nvSpPr>
        <p:spPr>
          <a:xfrm>
            <a:off x="1085850" y="4114800"/>
            <a:ext cx="256032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数据库ER图设计</a:t>
            </a:r>
            <a:endParaRPr lang="en-US" sz="1350" dirty="0"/>
          </a:p>
        </p:txBody>
      </p:sp>
      <p:sp>
        <p:nvSpPr>
          <p:cNvPr id="40" name="Text 11"/>
          <p:cNvSpPr/>
          <p:nvPr/>
        </p:nvSpPr>
        <p:spPr>
          <a:xfrm>
            <a:off x="1085850" y="4381500"/>
            <a:ext cx="256032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设计用户、工单、评价等数据表结构</a:t>
            </a:r>
            <a:endParaRPr lang="en-US" sz="1050" dirty="0"/>
          </a:p>
        </p:txBody>
      </p:sp>
      <p:sp>
        <p:nvSpPr>
          <p:cNvPr id="41" name="Text 12"/>
          <p:cNvSpPr/>
          <p:nvPr/>
        </p:nvSpPr>
        <p:spPr>
          <a:xfrm>
            <a:off x="1066800" y="4724400"/>
            <a:ext cx="208026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Django环境搭建</a:t>
            </a:r>
            <a:endParaRPr lang="en-US" sz="1350" dirty="0"/>
          </a:p>
        </p:txBody>
      </p:sp>
      <p:sp>
        <p:nvSpPr>
          <p:cNvPr id="42" name="Text 13"/>
          <p:cNvSpPr/>
          <p:nvPr/>
        </p:nvSpPr>
        <p:spPr>
          <a:xfrm>
            <a:off x="1066800" y="4991100"/>
            <a:ext cx="208026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配置开发环境，创建项目框架</a:t>
            </a:r>
            <a:endParaRPr lang="en-US" sz="1050" dirty="0"/>
          </a:p>
        </p:txBody>
      </p:sp>
      <p:sp>
        <p:nvSpPr>
          <p:cNvPr id="43" name="Text 14"/>
          <p:cNvSpPr/>
          <p:nvPr/>
        </p:nvSpPr>
        <p:spPr>
          <a:xfrm>
            <a:off x="1104900" y="5334000"/>
            <a:ext cx="288036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用户模块基础开发</a:t>
            </a:r>
            <a:endParaRPr lang="en-US" sz="1350" dirty="0"/>
          </a:p>
        </p:txBody>
      </p:sp>
      <p:sp>
        <p:nvSpPr>
          <p:cNvPr id="44" name="Text 15"/>
          <p:cNvSpPr/>
          <p:nvPr/>
        </p:nvSpPr>
        <p:spPr>
          <a:xfrm>
            <a:off x="1104900" y="5600700"/>
            <a:ext cx="288036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实现用户注册、登录、权限管理基础功能</a:t>
            </a:r>
            <a:endParaRPr lang="en-US" sz="1050" dirty="0"/>
          </a:p>
        </p:txBody>
      </p:sp>
      <p:sp>
        <p:nvSpPr>
          <p:cNvPr id="45" name="Text 16"/>
          <p:cNvSpPr/>
          <p:nvPr/>
        </p:nvSpPr>
        <p:spPr>
          <a:xfrm>
            <a:off x="6743700" y="2400300"/>
            <a:ext cx="51816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40A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下一步计划</a:t>
            </a:r>
            <a:endParaRPr lang="en-US" sz="1800" dirty="0"/>
          </a:p>
        </p:txBody>
      </p:sp>
      <p:sp>
        <p:nvSpPr>
          <p:cNvPr id="46" name="Text 17"/>
          <p:cNvSpPr/>
          <p:nvPr/>
        </p:nvSpPr>
        <p:spPr>
          <a:xfrm>
            <a:off x="6819900" y="2895600"/>
            <a:ext cx="3200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工单模块开发 </a:t>
            </a:r>
            <a:r>
              <a:rPr lang="en-US" sz="1050" dirty="0">
                <a:solidFill>
                  <a:srgbClr val="CA8A04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(1月-3月)</a:t>
            </a:r>
            <a:endParaRPr lang="en-US" sz="1350" dirty="0"/>
          </a:p>
        </p:txBody>
      </p:sp>
      <p:sp>
        <p:nvSpPr>
          <p:cNvPr id="47" name="Text 18"/>
          <p:cNvSpPr/>
          <p:nvPr/>
        </p:nvSpPr>
        <p:spPr>
          <a:xfrm>
            <a:off x="6819900" y="3162300"/>
            <a:ext cx="384048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实现工单提交、审核、派单、维修、完成、评价全流程</a:t>
            </a:r>
            <a:endParaRPr lang="en-US" sz="1050" dirty="0"/>
          </a:p>
        </p:txBody>
      </p:sp>
      <p:sp>
        <p:nvSpPr>
          <p:cNvPr id="48" name="Text 19"/>
          <p:cNvSpPr/>
          <p:nvPr/>
        </p:nvSpPr>
        <p:spPr>
          <a:xfrm>
            <a:off x="6877050" y="3505200"/>
            <a:ext cx="201037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前端页面开发 </a:t>
            </a:r>
            <a:r>
              <a:rPr lang="en-US" sz="1050" dirty="0">
                <a:solidFill>
                  <a:srgbClr val="CA8A04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(3月)</a:t>
            </a:r>
            <a:endParaRPr lang="en-US" sz="1350" dirty="0"/>
          </a:p>
        </p:txBody>
      </p:sp>
      <p:sp>
        <p:nvSpPr>
          <p:cNvPr id="49" name="Text 20"/>
          <p:cNvSpPr/>
          <p:nvPr/>
        </p:nvSpPr>
        <p:spPr>
          <a:xfrm>
            <a:off x="6877050" y="3771900"/>
            <a:ext cx="2412444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基于Bootstrap/Vue构建用户界面</a:t>
            </a:r>
            <a:endParaRPr lang="en-US" sz="1050" dirty="0"/>
          </a:p>
        </p:txBody>
      </p:sp>
      <p:sp>
        <p:nvSpPr>
          <p:cNvPr id="50" name="Text 21"/>
          <p:cNvSpPr/>
          <p:nvPr/>
        </p:nvSpPr>
        <p:spPr>
          <a:xfrm>
            <a:off x="6858000" y="4114800"/>
            <a:ext cx="2667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系统测试与论文撰写 </a:t>
            </a:r>
            <a:r>
              <a:rPr lang="en-US" sz="1050" dirty="0">
                <a:solidFill>
                  <a:srgbClr val="CA8A04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(3月-4月)</a:t>
            </a:r>
            <a:endParaRPr lang="en-US" sz="1350" dirty="0"/>
          </a:p>
        </p:txBody>
      </p:sp>
      <p:sp>
        <p:nvSpPr>
          <p:cNvPr id="51" name="Text 22"/>
          <p:cNvSpPr/>
          <p:nvPr/>
        </p:nvSpPr>
        <p:spPr>
          <a:xfrm>
            <a:off x="6858000" y="4381500"/>
            <a:ext cx="32004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功能测试、性能测试、安全性测试与论文终稿</a:t>
            </a:r>
            <a:endParaRPr lang="en-US" sz="1050" dirty="0"/>
          </a:p>
        </p:txBody>
      </p:sp>
      <p:sp>
        <p:nvSpPr>
          <p:cNvPr id="52" name="Text 23"/>
          <p:cNvSpPr/>
          <p:nvPr/>
        </p:nvSpPr>
        <p:spPr>
          <a:xfrm>
            <a:off x="6400800" y="4876800"/>
            <a:ext cx="5181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项目时间线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81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905000" cy="1905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0" y="5429250"/>
            <a:ext cx="1428750" cy="1905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066800"/>
            <a:ext cx="9144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7200" y="3576638"/>
            <a:ext cx="3657600" cy="952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66449" y="6362700"/>
            <a:ext cx="190500" cy="1524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609600" y="609600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感谢聆听</a:t>
            </a:r>
            <a:endParaRPr lang="en-US" sz="2700" dirty="0"/>
          </a:p>
        </p:txBody>
      </p:sp>
      <p:sp>
        <p:nvSpPr>
          <p:cNvPr id="17" name="Text 1"/>
          <p:cNvSpPr/>
          <p:nvPr/>
        </p:nvSpPr>
        <p:spPr>
          <a:xfrm>
            <a:off x="2604135" y="2129155"/>
            <a:ext cx="772541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zh-CN" altLang="en-US" sz="3600" b="1" dirty="0">
                <a:solidFill>
                  <a:srgbClr val="1E40A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恳请各位评委老师批评指正</a:t>
            </a:r>
            <a:r>
              <a:rPr lang="en-US" sz="3600" b="1" dirty="0">
                <a:solidFill>
                  <a:srgbClr val="1E40A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！</a:t>
            </a:r>
            <a:endParaRPr lang="en-US" sz="3600" dirty="0"/>
          </a:p>
        </p:txBody>
      </p:sp>
      <p:sp>
        <p:nvSpPr>
          <p:cNvPr id="18" name="Text 2"/>
          <p:cNvSpPr/>
          <p:nvPr/>
        </p:nvSpPr>
        <p:spPr>
          <a:xfrm>
            <a:off x="3810000" y="2814638"/>
            <a:ext cx="457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800" dirty="0"/>
          </a:p>
        </p:txBody>
      </p:sp>
      <p:sp>
        <p:nvSpPr>
          <p:cNvPr id="25" name="Text 9"/>
          <p:cNvSpPr/>
          <p:nvPr/>
        </p:nvSpPr>
        <p:spPr>
          <a:xfrm>
            <a:off x="609600" y="6324600"/>
            <a:ext cx="1853446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软件学院 · 2026年1月</a:t>
            </a:r>
            <a:endParaRPr lang="en-US" sz="1200" dirty="0"/>
          </a:p>
        </p:txBody>
      </p:sp>
      <p:sp>
        <p:nvSpPr>
          <p:cNvPr id="26" name="Text 10"/>
          <p:cNvSpPr/>
          <p:nvPr/>
        </p:nvSpPr>
        <p:spPr>
          <a:xfrm>
            <a:off x="10433149" y="6324600"/>
            <a:ext cx="1379101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基于Django框架</a:t>
            </a:r>
            <a:endParaRPr lang="en-US" sz="120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0951" y="4572000"/>
            <a:ext cx="419100" cy="495300"/>
          </a:xfrm>
          <a:prstGeom prst="rect">
            <a:avLst/>
          </a:prstGeom>
        </p:spPr>
      </p:pic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35251" y="4686300"/>
            <a:ext cx="190500" cy="266700"/>
          </a:xfrm>
          <a:prstGeom prst="rect">
            <a:avLst/>
          </a:prstGeom>
        </p:spPr>
      </p:pic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03750" y="4419600"/>
            <a:ext cx="2184350" cy="1333500"/>
          </a:xfrm>
          <a:prstGeom prst="rect">
            <a:avLst/>
          </a:prstGeom>
        </p:spPr>
      </p:pic>
      <p:pic>
        <p:nvPicPr>
          <p:cNvPr id="32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72014" y="4572000"/>
            <a:ext cx="447675" cy="495300"/>
          </a:xfrm>
          <a:prstGeom prst="rect">
            <a:avLst/>
          </a:prstGeom>
        </p:spPr>
      </p:pic>
      <p:pic>
        <p:nvPicPr>
          <p:cNvPr id="33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86314" y="4686300"/>
            <a:ext cx="219075" cy="266700"/>
          </a:xfrm>
          <a:prstGeom prst="rect">
            <a:avLst/>
          </a:prstGeom>
        </p:spPr>
      </p:pic>
      <p:pic>
        <p:nvPicPr>
          <p:cNvPr id="34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69101" y="4419600"/>
            <a:ext cx="2184350" cy="1333500"/>
          </a:xfrm>
          <a:prstGeom prst="rect">
            <a:avLst/>
          </a:prstGeom>
        </p:spPr>
      </p:pic>
      <p:pic>
        <p:nvPicPr>
          <p:cNvPr id="35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27839" y="4572000"/>
            <a:ext cx="466725" cy="495300"/>
          </a:xfrm>
          <a:prstGeom prst="rect">
            <a:avLst/>
          </a:prstGeom>
        </p:spPr>
      </p:pic>
      <p:pic>
        <p:nvPicPr>
          <p:cNvPr id="36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42139" y="4686300"/>
            <a:ext cx="238125" cy="266700"/>
          </a:xfrm>
          <a:prstGeom prst="rect">
            <a:avLst/>
          </a:prstGeom>
        </p:spPr>
      </p:pic>
      <p:sp>
        <p:nvSpPr>
          <p:cNvPr id="37" name="Text 2"/>
          <p:cNvSpPr/>
          <p:nvPr/>
        </p:nvSpPr>
        <p:spPr>
          <a:xfrm>
            <a:off x="3210461" y="5181600"/>
            <a:ext cx="64008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学生姓名</a:t>
            </a:r>
            <a:endParaRPr lang="en-US" sz="1050" dirty="0"/>
          </a:p>
        </p:txBody>
      </p:sp>
      <p:sp>
        <p:nvSpPr>
          <p:cNvPr id="38" name="Text 3"/>
          <p:cNvSpPr/>
          <p:nvPr/>
        </p:nvSpPr>
        <p:spPr>
          <a:xfrm>
            <a:off x="3342605" y="5372100"/>
            <a:ext cx="3759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XXX</a:t>
            </a:r>
            <a:endParaRPr lang="en-US" sz="1200" dirty="0"/>
          </a:p>
        </p:txBody>
      </p:sp>
      <p:sp>
        <p:nvSpPr>
          <p:cNvPr id="39" name="Text 4"/>
          <p:cNvSpPr/>
          <p:nvPr/>
        </p:nvSpPr>
        <p:spPr>
          <a:xfrm>
            <a:off x="5935831" y="5181600"/>
            <a:ext cx="32004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学号</a:t>
            </a:r>
            <a:endParaRPr lang="en-US" sz="1050" dirty="0"/>
          </a:p>
        </p:txBody>
      </p:sp>
      <p:sp>
        <p:nvSpPr>
          <p:cNvPr id="40" name="Text 5"/>
          <p:cNvSpPr/>
          <p:nvPr/>
        </p:nvSpPr>
        <p:spPr>
          <a:xfrm>
            <a:off x="5907956" y="5372100"/>
            <a:ext cx="3759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XXX</a:t>
            </a:r>
            <a:endParaRPr lang="en-US" sz="1200" dirty="0"/>
          </a:p>
        </p:txBody>
      </p:sp>
      <p:sp>
        <p:nvSpPr>
          <p:cNvPr id="41" name="Text 6"/>
          <p:cNvSpPr/>
          <p:nvPr/>
        </p:nvSpPr>
        <p:spPr>
          <a:xfrm>
            <a:off x="8341162" y="5181600"/>
            <a:ext cx="64008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指导老师</a:t>
            </a:r>
            <a:endParaRPr lang="en-US" sz="1050" dirty="0"/>
          </a:p>
        </p:txBody>
      </p:sp>
      <p:sp>
        <p:nvSpPr>
          <p:cNvPr id="42" name="Text 7"/>
          <p:cNvSpPr/>
          <p:nvPr/>
        </p:nvSpPr>
        <p:spPr>
          <a:xfrm>
            <a:off x="8473306" y="5372100"/>
            <a:ext cx="3759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XXX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1172</Words>
  <Application>WPS 演示</Application>
  <PresentationFormat>On-screen Show (16:9)</PresentationFormat>
  <Paragraphs>206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1" baseType="lpstr">
      <vt:lpstr>Arial</vt:lpstr>
      <vt:lpstr>宋体</vt:lpstr>
      <vt:lpstr>Wingdings</vt:lpstr>
      <vt:lpstr>ui-sans-serif</vt:lpstr>
      <vt:lpstr>华文中宋</vt:lpstr>
      <vt:lpstr>ui-sans-serif</vt:lpstr>
      <vt:lpstr>ui-sans-serif</vt:lpstr>
      <vt:lpstr>PingFang SC</vt:lpstr>
      <vt:lpstr>PingFang SC</vt:lpstr>
      <vt:lpstr>PingFang SC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吴汉东</cp:lastModifiedBy>
  <cp:revision>2</cp:revision>
  <dcterms:created xsi:type="dcterms:W3CDTF">2026-01-11T15:45:00Z</dcterms:created>
  <dcterms:modified xsi:type="dcterms:W3CDTF">2026-01-11T15:57:24Z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E3EC471202A04D68831119BAC64F56CC_12</vt:lpwstr>
  </property>
  <property fmtid="{D5CDD505-2E9C-101B-9397-08002B2CF9AE}" pid="3" name="KSOProductBuildVer">
    <vt:lpwstr>2052-12.1.0.21915</vt:lpwstr>
  </property>
</Properties>
</file>